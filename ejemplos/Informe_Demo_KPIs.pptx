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Pago de convenios (planillas)</c:v>
                </c:pt>
              </c:strCache>
            </c:strRef>
          </c:tx>
          <c:spPr>
            <a:solidFill>
              <a:srgbClr val="E2000C"/>
            </a:solidFill>
            <a:ln>
              <a:solidFill>
                <a:srgbClr val="E2000C"/>
              </a:solidFill>
            </a:ln>
          </c:spP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185</c:v>
                </c:pt>
                <c:pt idx="1">
                  <c:v>203</c:v>
                </c:pt>
                <c:pt idx="2">
                  <c:v>250</c:v>
                </c:pt>
                <c:pt idx="3">
                  <c:v>286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Depósitos de CTS</c:v>
                </c:pt>
              </c:strCache>
            </c:strRef>
          </c:tx>
          <c:spPr>
            <a:solidFill>
              <a:srgbClr val="E84204"/>
            </a:solidFill>
            <a:ln>
              <a:solidFill>
                <a:srgbClr val="E84204"/>
              </a:solidFill>
            </a:ln>
          </c:spP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82</c:v>
                </c:pt>
                <c:pt idx="1">
                  <c:v>149</c:v>
                </c:pt>
                <c:pt idx="2">
                  <c:v>96</c:v>
                </c:pt>
                <c:pt idx="3">
                  <c:v>101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Pago de convenios</c:v>
                </c:pt>
              </c:strCache>
            </c:strRef>
          </c:tx>
          <c:spPr>
            <a:solidFill>
              <a:srgbClr val="E2000C"/>
            </a:solidFill>
            <a:ln>
              <a:solidFill>
                <a:srgbClr val="E2000C"/>
              </a:solidFill>
            </a:ln>
          </c:spP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1510.34132</c:v>
                </c:pt>
                <c:pt idx="1">
                  <c:v>1515.2431100000001</c:v>
                </c:pt>
                <c:pt idx="2">
                  <c:v>1941.6483600000001</c:v>
                </c:pt>
                <c:pt idx="3">
                  <c:v>2203.7015699999997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Depósitos de CTS</c:v>
                </c:pt>
              </c:strCache>
            </c:strRef>
          </c:tx>
          <c:spPr>
            <a:solidFill>
              <a:srgbClr val="E84204"/>
            </a:solidFill>
            <a:ln>
              <a:solidFill>
                <a:srgbClr val="E84204"/>
              </a:solidFill>
            </a:ln>
          </c:spP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1131.43658</c:v>
                </c:pt>
                <c:pt idx="1">
                  <c:v>2020.06299</c:v>
                </c:pt>
                <c:pt idx="2">
                  <c:v>1188.58912</c:v>
                </c:pt>
                <c:pt idx="3">
                  <c:v>1406.47002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Contando solo días que trabajó cada uno</c:v>
                </c:pt>
              </c:strCache>
            </c:strRef>
          </c:tx>
          <c:spPr>
            <a:ln w="28575">
              <a:solidFill>
                <a:srgbClr val="E2000C"/>
              </a:solidFill>
            </a:ln>
          </c:spPr>
          <c:marker>
            <c:spPr>
              <a:solidFill>
                <a:srgbClr val="E2000C"/>
              </a:solidFill>
              <a:ln>
                <a:solidFill>
                  <a:srgbClr val="E2000C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4.1</c:v>
                </c:pt>
                <c:pt idx="2">
                  <c:v>4.2</c:v>
                </c:pt>
                <c:pt idx="3">
                  <c:v>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Contando todos los días del mes</c:v>
                </c:pt>
              </c:strCache>
            </c:strRef>
          </c:tx>
          <c:spPr>
            <a:ln w="28575">
              <a:solidFill>
                <a:srgbClr val="E84204"/>
              </a:solidFill>
            </a:ln>
          </c:spPr>
          <c:marker>
            <c:spPr>
              <a:solidFill>
                <a:srgbClr val="E84204"/>
              </a:solidFill>
              <a:ln>
                <a:solidFill>
                  <a:srgbClr val="E84204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3.0</c:v>
                </c:pt>
                <c:pt idx="1">
                  <c:v>3.8</c:v>
                </c:pt>
                <c:pt idx="2">
                  <c:v>3.8</c:v>
                </c:pt>
                <c:pt idx="3">
                  <c:v>4.2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 error del operador</c:v>
                </c:pt>
              </c:strCache>
            </c:strRef>
          </c:tx>
          <c:spPr>
            <a:ln w="28575">
              <a:solidFill>
                <a:srgbClr val="E2000C"/>
              </a:solidFill>
            </a:ln>
          </c:spPr>
          <c:marker>
            <c:spPr>
              <a:solidFill>
                <a:srgbClr val="E2000C"/>
              </a:solidFill>
              <a:ln>
                <a:solidFill>
                  <a:srgbClr val="E2000C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0.03243</c:v>
                </c:pt>
                <c:pt idx="1">
                  <c:v>0.01478</c:v>
                </c:pt>
                <c:pt idx="2">
                  <c:v>0.008</c:v>
                </c:pt>
                <c:pt idx="3">
                  <c:v>0.00699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Todos los errores (sistema + cliente + operador)</c:v>
                </c:pt>
              </c:strCache>
            </c:strRef>
          </c:tx>
          <c:spPr>
            <a:ln w="28575">
              <a:solidFill>
                <a:srgbClr val="707070"/>
              </a:solidFill>
            </a:ln>
          </c:spPr>
          <c:marker>
            <c:spPr>
              <a:solidFill>
                <a:srgbClr val="707070"/>
              </a:solidFill>
              <a:ln>
                <a:solidFill>
                  <a:srgbClr val="707070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0.03243</c:v>
                </c:pt>
                <c:pt idx="1">
                  <c:v>0.02463</c:v>
                </c:pt>
                <c:pt idx="2">
                  <c:v>0.008</c:v>
                </c:pt>
                <c:pt idx="3">
                  <c:v>0.01748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Meta: menos de 1%</c:v>
                </c:pt>
              </c:strCache>
            </c:strRef>
          </c:tx>
          <c:spPr>
            <a:ln w="28575">
              <a:solidFill>
                <a:srgbClr val="4CAF50"/>
              </a:solidFill>
              <a:prstDash val="dash"/>
            </a:ln>
          </c:spPr>
          <c:marker>
            <c:spPr>
              <a:solidFill>
                <a:srgbClr val="4CAF50"/>
              </a:solidFill>
              <a:ln>
                <a:solidFill>
                  <a:srgbClr val="4CAF50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0.01</c:v>
                </c:pt>
                <c:pt idx="1">
                  <c:v>0.01</c:v>
                </c:pt>
                <c:pt idx="2">
                  <c:v>0.01</c:v>
                </c:pt>
                <c:pt idx="3">
                  <c:v>0.01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%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Pago de convenios</c:v>
                </c:pt>
              </c:strCache>
            </c:strRef>
          </c:tx>
          <c:spPr>
            <a:solidFill>
              <a:srgbClr val="E2000C"/>
            </a:solidFill>
            <a:ln>
              <a:solidFill>
                <a:srgbClr val="E2000C"/>
              </a:solidFill>
            </a:ln>
          </c:spP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</c:v>
                </c:pt>
                <c:pt idx="1">
                  <c:v>4.4</c:v>
                </c:pt>
                <c:pt idx="2">
                  <c:v>5.4</c:v>
                </c:pt>
                <c:pt idx="3">
                  <c:v>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Depósitos de CTS</c:v>
                </c:pt>
              </c:strCache>
            </c:strRef>
          </c:tx>
          <c:spPr>
            <a:solidFill>
              <a:srgbClr val="E84204"/>
            </a:solidFill>
            <a:ln>
              <a:solidFill>
                <a:srgbClr val="E84204"/>
              </a:solidFill>
            </a:ln>
          </c:spPr>
          <c:cat>
            <c:strRef>
              <c:f>Sheet1!$A$2:$A$5</c:f>
              <c:strCache>
                <c:ptCount val="4"/>
                <c:pt idx="0">
                  <c:v>Abr-26</c:v>
                </c:pt>
                <c:pt idx="1">
                  <c:v>May-26</c:v>
                </c:pt>
                <c:pt idx="2">
                  <c:v>Jun-26</c:v>
                </c:pt>
                <c:pt idx="3">
                  <c:v>Jul-26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5.5</c:v>
                </c:pt>
                <c:pt idx="1">
                  <c:v>9.9</c:v>
                </c:pt>
                <c:pt idx="2">
                  <c:v>6.4</c:v>
                </c:pt>
                <c:pt idx="3">
                  <c:v>6.7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.0" sourceLinked="0"/>
        <c:majorTickMark val="out"/>
        <c:minorTickMark val="none"/>
        <c:tickLblPos val="nextTo"/>
        <c:spPr>
          <a:ln>
            <a:solidFill>
              <a:srgbClr val="CCCCCC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7200000" cy="612000"/>
          </a:xfrm>
          <a:prstGeom prst="roundRect">
            <a:avLst>
              <a:gd name="adj" fmla="val 50000"/>
            </a:avLst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54000" bIns="54000" wrap="square"/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Performance KPIs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000" y="66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07070"/>
                </a:solidFill>
                <a:latin typeface="Calibri"/>
              </a:rPr>
              <a:t>Pagos Masivos y CTS · Jul-26 · Comparativo del periodo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" y="917999"/>
            <a:ext cx="5112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04040"/>
                </a:solidFill>
                <a:latin typeface="Calibri"/>
              </a:rPr>
              <a:t>Cuántas transacciones se hicieron cada mes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08000" y="1133999"/>
          <a:ext cx="5112000" cy="144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108000" y="2573999"/>
            <a:ext cx="5112000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0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00" y="2573999"/>
            <a:ext cx="5112000" cy="216000"/>
          </a:xfrm>
          <a:prstGeom prst="rect">
            <a:avLst/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QUÉ SIGNIFICA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" y="2825999"/>
            <a:ext cx="5004000" cy="468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Jul-26: 286 pagos de convenio (+36 vs. mes anterior). [Dato de ejemplo generado al azar.]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0" y="917999"/>
            <a:ext cx="5112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04040"/>
                </a:solidFill>
                <a:latin typeface="Calibri"/>
              </a:rPr>
              <a:t>Cuánto dinero se movió cada mes (miles de soles)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00000" y="1133999"/>
          <a:ext cx="5112000" cy="144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5400000" y="2573999"/>
            <a:ext cx="5112000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0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00000" y="2573999"/>
            <a:ext cx="5112000" cy="216000"/>
          </a:xfrm>
          <a:prstGeom prst="rect">
            <a:avLst/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QUÉ SIGNIFICA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54000" y="2825999"/>
            <a:ext cx="5004000" cy="468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Jul-26: S/ 3,610,172 movilizados entre pagos de convenio y CTS, 100% trazable en el sistema.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" y="3455998"/>
            <a:ext cx="5112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04040"/>
                </a:solidFill>
                <a:latin typeface="Calibri"/>
              </a:rPr>
              <a:t>Cuántas transacciones hace cada persona en un día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08000" y="3671998"/>
          <a:ext cx="5112000" cy="144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Rectangle 15"/>
          <p:cNvSpPr/>
          <p:nvPr/>
        </p:nvSpPr>
        <p:spPr>
          <a:xfrm>
            <a:off x="108000" y="5111998"/>
            <a:ext cx="5112000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0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8000" y="5111998"/>
            <a:ext cx="5112000" cy="216000"/>
          </a:xfrm>
          <a:prstGeom prst="rect">
            <a:avLst/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QUÉ SIGNIFICA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00" y="5363998"/>
            <a:ext cx="5004000" cy="468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Jul-26: cada persona atendió ~5 transacciones por día trabajado. La brecha con la línea naranja son días sin actividad.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0000" y="3455998"/>
            <a:ext cx="5112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04040"/>
                </a:solidFill>
                <a:latin typeface="Calibri"/>
              </a:rPr>
              <a:t>Errores que hubo que revertir (meta: menos de 1 de cada 100)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400000" y="3671998"/>
          <a:ext cx="5112000" cy="1440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1" name="Rectangle 20"/>
          <p:cNvSpPr/>
          <p:nvPr/>
        </p:nvSpPr>
        <p:spPr>
          <a:xfrm>
            <a:off x="5400000" y="5111998"/>
            <a:ext cx="5112000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0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00000" y="5111998"/>
            <a:ext cx="5112000" cy="216000"/>
          </a:xfrm>
          <a:prstGeom prst="rect">
            <a:avLst/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QUÉ SIGNIFICA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4000" y="5363998"/>
            <a:ext cx="5004000" cy="468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Jul-26: 0.70 de cada 100 pagos se revirtió por error propio — 2 errores sobre 286 pagos hechos.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8000" y="5975998"/>
            <a:ext cx="1994400" cy="7740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28800"/>
          <a:lstStyle/>
          <a:p>
            <a:pPr algn="ctr"/>
            <a:r>
              <a:rPr sz="1900" b="1">
                <a:solidFill>
                  <a:srgbClr val="E2000C"/>
                </a:solidFill>
                <a:latin typeface="Calibri"/>
              </a:rPr>
              <a:t>1.03x</a:t>
            </a:r>
          </a:p>
          <a:p>
            <a:pPr algn="ctr"/>
            <a:r>
              <a:rPr sz="850">
                <a:solidFill>
                  <a:srgbClr val="404040"/>
                </a:solidFill>
                <a:latin typeface="Calibri"/>
              </a:rPr>
              <a:t>Diferencia de carga entre los 2 asistentes</a:t>
            </a:r>
          </a:p>
          <a:p>
            <a:pPr algn="ctr"/>
            <a:r>
              <a:rPr sz="750" i="1">
                <a:solidFill>
                  <a:srgbClr val="707070"/>
                </a:solidFill>
                <a:latin typeface="Calibri"/>
              </a:rPr>
              <a:t>no debería pasar el doble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10400" y="5975998"/>
            <a:ext cx="1994400" cy="7740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28800"/>
          <a:lstStyle/>
          <a:p>
            <a:pPr algn="ctr"/>
            <a:r>
              <a:rPr sz="1900" b="1">
                <a:solidFill>
                  <a:srgbClr val="E2000C"/>
                </a:solidFill>
                <a:latin typeface="Calibri"/>
              </a:rPr>
              <a:t>6%</a:t>
            </a:r>
          </a:p>
          <a:p>
            <a:pPr algn="ctr"/>
            <a:r>
              <a:rPr sz="850">
                <a:solidFill>
                  <a:srgbClr val="404040"/>
                </a:solidFill>
                <a:latin typeface="Calibri"/>
              </a:rPr>
              <a:t>Trabajo operativo que aún hace el analista</a:t>
            </a:r>
          </a:p>
          <a:p>
            <a:pPr algn="ctr"/>
            <a:r>
              <a:rPr sz="750" i="1">
                <a:solidFill>
                  <a:srgbClr val="707070"/>
                </a:solidFill>
                <a:latin typeface="Calibri"/>
              </a:rPr>
              <a:t>debería bajar de 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2800" y="5975998"/>
            <a:ext cx="1994400" cy="7740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28800"/>
          <a:lstStyle/>
          <a:p>
            <a:pPr algn="ctr"/>
            <a:r>
              <a:rPr sz="1900" b="1">
                <a:solidFill>
                  <a:srgbClr val="E2000C"/>
                </a:solidFill>
                <a:latin typeface="Calibri"/>
              </a:rPr>
              <a:t>40%</a:t>
            </a:r>
          </a:p>
          <a:p>
            <a:pPr algn="ctr"/>
            <a:r>
              <a:rPr sz="850">
                <a:solidFill>
                  <a:srgbClr val="404040"/>
                </a:solidFill>
                <a:latin typeface="Calibri"/>
              </a:rPr>
              <a:t>Agencias que ya usan Pago en Lote</a:t>
            </a:r>
          </a:p>
          <a:p>
            <a:pPr algn="ctr"/>
            <a:r>
              <a:rPr sz="750" i="1">
                <a:solidFill>
                  <a:srgbClr val="707070"/>
                </a:solidFill>
                <a:latin typeface="Calibri"/>
              </a:rPr>
              <a:t>de 62 agencias en total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15200" y="5975998"/>
            <a:ext cx="1994400" cy="7740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28800"/>
          <a:lstStyle/>
          <a:p>
            <a:pPr algn="ctr"/>
            <a:r>
              <a:rPr sz="1900" b="1">
                <a:solidFill>
                  <a:srgbClr val="E2000C"/>
                </a:solidFill>
                <a:latin typeface="Calibri"/>
              </a:rPr>
              <a:t>32%</a:t>
            </a:r>
          </a:p>
          <a:p>
            <a:pPr algn="ctr"/>
            <a:r>
              <a:rPr sz="850">
                <a:solidFill>
                  <a:srgbClr val="404040"/>
                </a:solidFill>
                <a:latin typeface="Calibri"/>
              </a:rPr>
              <a:t>Agencias que ya usan CTS en Lote</a:t>
            </a:r>
          </a:p>
          <a:p>
            <a:pPr algn="ctr"/>
            <a:r>
              <a:rPr sz="750" i="1">
                <a:solidFill>
                  <a:srgbClr val="707070"/>
                </a:solidFill>
                <a:latin typeface="Calibri"/>
              </a:rPr>
              <a:t>de 62 agencias en total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17600" y="5975998"/>
            <a:ext cx="1994400" cy="7740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28800"/>
          <a:lstStyle/>
          <a:p>
            <a:pPr algn="ctr"/>
            <a:r>
              <a:rPr sz="1900" b="1">
                <a:solidFill>
                  <a:srgbClr val="E2000C"/>
                </a:solidFill>
                <a:latin typeface="Calibri"/>
              </a:rPr>
              <a:t>8</a:t>
            </a:r>
          </a:p>
          <a:p>
            <a:pPr algn="ctr"/>
            <a:r>
              <a:rPr sz="850">
                <a:solidFill>
                  <a:srgbClr val="404040"/>
                </a:solidFill>
                <a:latin typeface="Calibri"/>
              </a:rPr>
              <a:t>Empresas distintas atendidas en CTS este 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7200000" cy="612000"/>
          </a:xfrm>
          <a:prstGeom prst="roundRect">
            <a:avLst>
              <a:gd name="adj" fmla="val 50000"/>
            </a:avLst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54000" bIns="54000" wrap="square"/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Performance KPIs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000" y="66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07070"/>
                </a:solidFill>
                <a:latin typeface="Calibri"/>
              </a:rPr>
              <a:t>Pagos Masivos y CTS · Jul-26 · Tiempo estimado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" y="917999"/>
            <a:ext cx="10404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04040"/>
                </a:solidFill>
                <a:latin typeface="Calibri"/>
              </a:rPr>
              <a:t>Horas de trabajo que representan estas transacciones (estimado)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08000" y="1133999"/>
          <a:ext cx="10404000" cy="190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108000" y="3041999"/>
            <a:ext cx="10404000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0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8000" y="3041999"/>
            <a:ext cx="10404000" cy="216000"/>
          </a:xfrm>
          <a:prstGeom prst="rect">
            <a:avLst/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tIns="0" bIns="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QUÉ SIGNIFICA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" y="3293999"/>
            <a:ext cx="10296000" cy="468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202020"/>
                </a:solidFill>
                <a:latin typeface="Calibri"/>
              </a:rPr>
              <a:t>Es un estimado, no un cronómetro real: se calcula con un tiempo promedio por transacción (1.3 min por pago de convenio, 4.0 min por CTS). En Jul-26 equivale a 13 horas de trabajo, unos 1.6 días completos de una persona sola.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" y="3851999"/>
            <a:ext cx="1040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07070"/>
                </a:solidFill>
                <a:latin typeface="Calibri"/>
              </a:rPr>
              <a:t>Nota: los tiempos son un estimado con supuestos fijos (no cronometrado).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7200000" cy="612000"/>
          </a:xfrm>
          <a:prstGeom prst="roundRect">
            <a:avLst>
              <a:gd name="adj" fmla="val 50000"/>
            </a:avLst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6000" tIns="54000" bIns="54000" wrap="square"/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Gestión Operativa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000" y="66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07070"/>
                </a:solidFill>
                <a:latin typeface="Calibri"/>
              </a:rPr>
              <a:t>Pagos Masivos y CTS · Jul-26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8000" y="917999"/>
            <a:ext cx="10404000" cy="540000"/>
          </a:xfrm>
          <a:prstGeom prst="roundRect">
            <a:avLst>
              <a:gd name="adj" fmla="val 15000"/>
            </a:avLst>
          </a:prstGeom>
          <a:solidFill>
            <a:srgbClr val="E200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0000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🏆  LOGRO DEL MES (EJEMPLO):  Salida a producción de una nueva mejora del 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" y="1565999"/>
            <a:ext cx="50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404040"/>
                </a:solidFill>
                <a:latin typeface="Calibri"/>
              </a:rPr>
              <a:t>Mejoras solicitadas este mes (datos de ejemplo)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8000" y="1799999"/>
          <a:ext cx="10259999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/>
                <a:gridCol w="576000"/>
                <a:gridCol w="2160000"/>
                <a:gridCol w="5580000"/>
                <a:gridCol w="1116000"/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N° Ref.</a:t>
                      </a:r>
                    </a:p>
                  </a:txBody>
                  <a:tcPr anchor="ctr">
                    <a:solidFill>
                      <a:srgbClr val="E200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anchor="ctr">
                    <a:solidFill>
                      <a:srgbClr val="E200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Qué se pidió</a:t>
                      </a:r>
                    </a:p>
                  </a:txBody>
                  <a:tcPr anchor="ctr">
                    <a:solidFill>
                      <a:srgbClr val="E200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En qué consiste</a:t>
                      </a:r>
                    </a:p>
                  </a:txBody>
                  <a:tcPr anchor="ctr">
                    <a:solidFill>
                      <a:srgbClr val="E2000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anchor="ctr">
                    <a:solidFill>
                      <a:srgbClr val="E2000C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  <a:latin typeface="Calibri"/>
                        </a:rPr>
                        <a:t>REQ-001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01-mes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Mejorar un reporte operativo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Ejemplo: agregar campos para poder reportar por ubicación.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En coordinación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  <a:latin typeface="Calibri"/>
                        </a:rPr>
                        <a:t>REQ-002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02-mes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Agilizar un proceso interno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Ejemplo: quitar pasos redundantes y agregar validaciones.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2 semanas est.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  <a:latin typeface="Calibri"/>
                        </a:rPr>
                        <a:t>REQ-003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02-mes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Automatizar una tarea manual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Ejemplo: que el sistema organice archivos automáticamente.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4 semanas est.</a:t>
                      </a:r>
                    </a:p>
                  </a:txBody>
                  <a:tcPr anchor="ctr" marL="54000" marR="54000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02020"/>
                          </a:solidFill>
                          <a:latin typeface="Calibri"/>
                        </a:rPr>
                        <a:t>REQ-004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09-mes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Reforzar un control de riesgo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Ejemplo: que las alertas lleguen también al equipo responsable.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02020"/>
                          </a:solidFill>
                          <a:latin typeface="Calibri"/>
                        </a:rPr>
                        <a:t>En coordinación</a:t>
                      </a:r>
                    </a:p>
                  </a:txBody>
                  <a:tcPr anchor="ctr" marL="54000" marR="540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8000" y="3671999"/>
            <a:ext cx="50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404040"/>
                </a:solidFill>
                <a:latin typeface="Calibri"/>
              </a:rPr>
              <a:t>Buzón de Requerimientos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00" y="3905999"/>
            <a:ext cx="1655999" cy="9360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28800"/>
          <a:lstStyle/>
          <a:p>
            <a:pPr algn="ctr"/>
            <a:r>
              <a:rPr sz="1900" b="1">
                <a:solidFill>
                  <a:srgbClr val="E2000C"/>
                </a:solidFill>
                <a:latin typeface="Calibri"/>
              </a:rPr>
              <a:t>0</a:t>
            </a:r>
          </a:p>
          <a:p>
            <a:pPr algn="ctr"/>
            <a:r>
              <a:rPr sz="850">
                <a:solidFill>
                  <a:srgbClr val="404040"/>
                </a:solidFill>
                <a:latin typeface="Calibri"/>
              </a:rPr>
              <a:t>Solicitudes recibidas (acumulado)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3905999"/>
            <a:ext cx="34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404040"/>
                </a:solidFill>
                <a:latin typeface="Calibri"/>
              </a:rPr>
              <a:t>Por qué escriben más los clientes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0000" y="3905999"/>
            <a:ext cx="32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404040"/>
                </a:solidFill>
                <a:latin typeface="Calibri"/>
              </a:rPr>
              <a:t>Quién atendió cada solicitud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Informe de KPIs — Pagos Masivos y CTS (demo)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