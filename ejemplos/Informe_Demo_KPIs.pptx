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Pago de convenios (planillas)</c:v>
                </c:pt>
              </c:strCache>
            </c:strRef>
          </c:tx>
          <c:spPr>
            <a:solidFill>
              <a:srgbClr val="E2000C"/>
            </a:solidFill>
            <a:ln>
              <a:solidFill>
                <a:srgbClr val="E2000C"/>
              </a:solidFill>
            </a:ln>
          </c:spP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24</c:v>
                </c:pt>
                <c:pt idx="2">
                  <c:v>50</c:v>
                </c:pt>
                <c:pt idx="3">
                  <c:v>175</c:v>
                </c:pt>
                <c:pt idx="4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Depósitos de CTS</c:v>
                </c:pt>
              </c:strCache>
            </c:strRef>
          </c:tx>
          <c:spPr>
            <a:solidFill>
              <a:srgbClr val="E84204"/>
            </a:solidFill>
            <a:ln>
              <a:solidFill>
                <a:srgbClr val="E84204"/>
              </a:solidFill>
            </a:ln>
          </c:spP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</c:v>
                </c:pt>
                <c:pt idx="1">
                  <c:v>218</c:v>
                </c:pt>
                <c:pt idx="2">
                  <c:v>62</c:v>
                </c:pt>
                <c:pt idx="3">
                  <c:v>29</c:v>
                </c:pt>
                <c:pt idx="4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Pago de convenios</c:v>
                </c:pt>
              </c:strCache>
            </c:strRef>
          </c:tx>
          <c:spPr>
            <a:solidFill>
              <a:srgbClr val="E2000C"/>
            </a:solidFill>
            <a:ln>
              <a:solidFill>
                <a:srgbClr val="E2000C"/>
              </a:solidFill>
            </a:ln>
          </c:spP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198.57949</c:v>
                </c:pt>
                <c:pt idx="1">
                  <c:v>134.21804</c:v>
                </c:pt>
                <c:pt idx="2">
                  <c:v>349.05276000000003</c:v>
                </c:pt>
                <c:pt idx="3">
                  <c:v>1340.0281</c:v>
                </c:pt>
                <c:pt idx="4">
                  <c:v>576.08334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Depósitos de CTS</c:v>
                </c:pt>
              </c:strCache>
            </c:strRef>
          </c:tx>
          <c:spPr>
            <a:solidFill>
              <a:srgbClr val="E84204"/>
            </a:solidFill>
            <a:ln>
              <a:solidFill>
                <a:srgbClr val="E84204"/>
              </a:solidFill>
            </a:ln>
          </c:spP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176.62654999999998</c:v>
                </c:pt>
                <c:pt idx="1">
                  <c:v>3048.81808</c:v>
                </c:pt>
                <c:pt idx="2">
                  <c:v>915.6284300000001</c:v>
                </c:pt>
                <c:pt idx="3">
                  <c:v>340.12628</c:v>
                </c:pt>
                <c:pt idx="4">
                  <c:v>301.11128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Contando solo días que trabajó cada uno</c:v>
                </c:pt>
              </c:strCache>
            </c:strRef>
          </c:tx>
          <c:spPr>
            <a:ln w="28575">
              <a:solidFill>
                <a:srgbClr val="E2000C"/>
              </a:solidFill>
            </a:ln>
          </c:spPr>
          <c:marker>
            <c:spPr>
              <a:solidFill>
                <a:srgbClr val="E2000C"/>
              </a:solidFill>
              <a:ln>
                <a:solidFill>
                  <a:srgbClr val="E2000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</c:v>
                </c:pt>
                <c:pt idx="1">
                  <c:v>3.6</c:v>
                </c:pt>
                <c:pt idx="2">
                  <c:v>2.4</c:v>
                </c:pt>
                <c:pt idx="3">
                  <c:v>3.6</c:v>
                </c:pt>
                <c:pt idx="4">
                  <c:v>4.7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Contando todos los días del mes</c:v>
                </c:pt>
              </c:strCache>
            </c:strRef>
          </c:tx>
          <c:spPr>
            <a:ln w="28575">
              <a:solidFill>
                <a:srgbClr val="E84204"/>
              </a:solidFill>
            </a:ln>
          </c:spPr>
          <c:marker>
            <c:spPr>
              <a:solidFill>
                <a:srgbClr val="E84204"/>
              </a:solidFill>
              <a:ln>
                <a:solidFill>
                  <a:srgbClr val="E84204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</c:v>
                </c:pt>
                <c:pt idx="1">
                  <c:v>2.5</c:v>
                </c:pt>
                <c:pt idx="2">
                  <c:v>2.0</c:v>
                </c:pt>
                <c:pt idx="3">
                  <c:v>3.5</c:v>
                </c:pt>
                <c:pt idx="4">
                  <c:v>1.6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 error del operador</c:v>
                </c:pt>
              </c:strCache>
            </c:strRef>
          </c:tx>
          <c:spPr>
            <a:ln w="28575">
              <a:solidFill>
                <a:srgbClr val="E2000C"/>
              </a:solidFill>
            </a:ln>
          </c:spPr>
          <c:marker>
            <c:spPr>
              <a:solidFill>
                <a:srgbClr val="E2000C"/>
              </a:solidFill>
              <a:ln>
                <a:solidFill>
                  <a:srgbClr val="E2000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0.0625</c:v>
                </c:pt>
                <c:pt idx="1">
                  <c:v>0.00791</c:v>
                </c:pt>
                <c:pt idx="2">
                  <c:v>0.00775</c:v>
                </c:pt>
                <c:pt idx="3">
                  <c:v>0.00901</c:v>
                </c:pt>
                <c:pt idx="4">
                  <c:v>0.00735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Todos los errores (sistema + cliente + operador)</c:v>
                </c:pt>
              </c:strCache>
            </c:strRef>
          </c:tx>
          <c:spPr>
            <a:ln w="28575">
              <a:solidFill>
                <a:srgbClr val="707070"/>
              </a:solidFill>
            </a:ln>
          </c:spPr>
          <c:marker>
            <c:spPr>
              <a:solidFill>
                <a:srgbClr val="707070"/>
              </a:solidFill>
              <a:ln>
                <a:solidFill>
                  <a:srgbClr val="70707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0.10417</c:v>
                </c:pt>
                <c:pt idx="1">
                  <c:v>0.02372</c:v>
                </c:pt>
                <c:pt idx="2">
                  <c:v>0.0155</c:v>
                </c:pt>
                <c:pt idx="3">
                  <c:v>0.00901</c:v>
                </c:pt>
                <c:pt idx="4">
                  <c:v>0.01471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Meta: menos de 1%</c:v>
                </c:pt>
              </c:strCache>
            </c:strRef>
          </c:tx>
          <c:spPr>
            <a:ln w="28575">
              <a:solidFill>
                <a:srgbClr val="4CAF50"/>
              </a:solidFill>
              <a:prstDash val="dash"/>
            </a:ln>
          </c:spPr>
          <c:marker>
            <c:spPr>
              <a:solidFill>
                <a:srgbClr val="4CAF50"/>
              </a:solidFill>
              <a:ln>
                <a:solidFill>
                  <a:srgbClr val="4CAF5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0.01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0.0%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Pago de convenios</c:v>
                </c:pt>
              </c:strCache>
            </c:strRef>
          </c:tx>
          <c:spPr>
            <a:solidFill>
              <a:srgbClr val="E2000C"/>
            </a:solidFill>
            <a:ln>
              <a:solidFill>
                <a:srgbClr val="E2000C"/>
              </a:solidFill>
            </a:ln>
          </c:spP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0.5</c:v>
                </c:pt>
                <c:pt idx="2">
                  <c:v>1.1</c:v>
                </c:pt>
                <c:pt idx="3">
                  <c:v>3.8</c:v>
                </c:pt>
                <c:pt idx="4">
                  <c:v>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Depósitos de CTS</c:v>
                </c:pt>
              </c:strCache>
            </c:strRef>
          </c:tx>
          <c:spPr>
            <a:solidFill>
              <a:srgbClr val="E84204"/>
            </a:solidFill>
            <a:ln>
              <a:solidFill>
                <a:srgbClr val="E84204"/>
              </a:solidFill>
            </a:ln>
          </c:spPr>
          <c:cat>
            <c:strRef>
              <c:f>Sheet1!$A$2:$A$6</c:f>
              <c:strCache>
                <c:ptCount val="5"/>
                <c:pt idx="0">
                  <c:v>Abr-26</c:v>
                </c:pt>
                <c:pt idx="1">
                  <c:v>May-26</c:v>
                </c:pt>
                <c:pt idx="2">
                  <c:v>Jun-26</c:v>
                </c:pt>
                <c:pt idx="3">
                  <c:v>Jul-26</c:v>
                </c:pt>
                <c:pt idx="4">
                  <c:v>Ago-26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</c:v>
                </c:pt>
                <c:pt idx="1">
                  <c:v>14.5</c:v>
                </c:pt>
                <c:pt idx="2">
                  <c:v>4.1</c:v>
                </c:pt>
                <c:pt idx="3">
                  <c:v>1.9</c:v>
                </c:pt>
                <c:pt idx="4">
                  <c:v>1.5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.0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200000" cy="612000"/>
          </a:xfrm>
          <a:prstGeom prst="roundRect">
            <a:avLst>
              <a:gd name="adj" fmla="val 50000"/>
            </a:avLst>
          </a:prstGeom>
          <a:solidFill>
            <a:srgbClr val="E2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54000" bIns="54000"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Performance KPIs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" y="66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Calibri"/>
              </a:rPr>
              <a:t>Pagos Masivos y CTS · Ago-26 · Comparativo del periodo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" y="917999"/>
            <a:ext cx="511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Cuántas transacciones se hicieron cada mes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8000" y="1133999"/>
          <a:ext cx="5112000" cy="14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108000" y="2573999"/>
            <a:ext cx="51120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" y="2573999"/>
            <a:ext cx="5112000" cy="216000"/>
          </a:xfrm>
          <a:prstGeom prst="rect">
            <a:avLst/>
          </a:prstGeom>
          <a:solidFill>
            <a:srgbClr val="E2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QUÉ SIGNIFICA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" y="2825999"/>
            <a:ext cx="5004000" cy="46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Ago-26: 77 pagos de convenio (-98 vs. mes anterior). [Dato de ejemplo generado al azar.]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917999"/>
            <a:ext cx="511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Cuánto dinero se movió cada mes (miles de soles)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00000" y="1133999"/>
          <a:ext cx="5112000" cy="144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5400000" y="2573999"/>
            <a:ext cx="51120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0" y="2573999"/>
            <a:ext cx="5112000" cy="216000"/>
          </a:xfrm>
          <a:prstGeom prst="rect">
            <a:avLst/>
          </a:prstGeom>
          <a:solidFill>
            <a:srgbClr val="E2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QUÉ SIGNIFICA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4000" y="2825999"/>
            <a:ext cx="5004000" cy="46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Ago-26: S/ 908,196 movilizados entre pagos de convenio y CTS, 100% trazable en el sistema.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" y="3455998"/>
            <a:ext cx="511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Cuántas transacciones hace cada persona en un día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108000" y="3671998"/>
          <a:ext cx="5112000" cy="144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Rectangle 15"/>
          <p:cNvSpPr/>
          <p:nvPr/>
        </p:nvSpPr>
        <p:spPr>
          <a:xfrm>
            <a:off x="108000" y="5111998"/>
            <a:ext cx="51120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000" y="5111998"/>
            <a:ext cx="5112000" cy="216000"/>
          </a:xfrm>
          <a:prstGeom prst="rect">
            <a:avLst/>
          </a:prstGeom>
          <a:solidFill>
            <a:srgbClr val="E2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QUÉ SIGNIFICA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00" y="5363998"/>
            <a:ext cx="5004000" cy="46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Ago-26: cada persona atendió ~5 transacciones por día trabajado. La brecha con la línea naranja son días sin actividad.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0" y="3455998"/>
            <a:ext cx="511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Errores que hubo que revertir (meta: menos de 1 de cada 100)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00000" y="3671998"/>
          <a:ext cx="5112000" cy="14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1" name="Rectangle 20"/>
          <p:cNvSpPr/>
          <p:nvPr/>
        </p:nvSpPr>
        <p:spPr>
          <a:xfrm>
            <a:off x="5400000" y="5111998"/>
            <a:ext cx="51120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00000" y="5111998"/>
            <a:ext cx="5112000" cy="216000"/>
          </a:xfrm>
          <a:prstGeom prst="rect">
            <a:avLst/>
          </a:prstGeom>
          <a:solidFill>
            <a:srgbClr val="E2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QUÉ SIGNIFICA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4000" y="5363998"/>
            <a:ext cx="5004000" cy="46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Ago-26: 0.73 de cada 100 pagos se revirtió por error propio — 1 errores sobre 77 pagos hechos.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000" y="5975998"/>
            <a:ext cx="1994400" cy="774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28800"/>
          <a:lstStyle/>
          <a:p>
            <a:pPr algn="ctr"/>
            <a:r>
              <a:rPr sz="1900" b="1">
                <a:solidFill>
                  <a:srgbClr val="E2000C"/>
                </a:solidFill>
                <a:latin typeface="Calibri"/>
              </a:rPr>
              <a:t>1.61x</a:t>
            </a:r>
          </a:p>
          <a:p>
            <a:pPr algn="ctr"/>
            <a:r>
              <a:rPr sz="850">
                <a:solidFill>
                  <a:srgbClr val="404040"/>
                </a:solidFill>
                <a:latin typeface="Calibri"/>
              </a:rPr>
              <a:t>Diferencia de carga entre los 2 asistentes</a:t>
            </a:r>
          </a:p>
          <a:p>
            <a:pPr algn="ctr"/>
            <a:r>
              <a:rPr sz="750" i="1">
                <a:solidFill>
                  <a:srgbClr val="707070"/>
                </a:solidFill>
                <a:latin typeface="Calibri"/>
              </a:rPr>
              <a:t>no debería pasar el doble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10400" y="5975998"/>
            <a:ext cx="1994400" cy="774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28800"/>
          <a:lstStyle/>
          <a:p>
            <a:pPr algn="ctr"/>
            <a:r>
              <a:rPr sz="1900" b="1">
                <a:solidFill>
                  <a:srgbClr val="E2000C"/>
                </a:solidFill>
                <a:latin typeface="Calibri"/>
              </a:rPr>
              <a:t>12%</a:t>
            </a:r>
          </a:p>
          <a:p>
            <a:pPr algn="ctr"/>
            <a:r>
              <a:rPr sz="850">
                <a:solidFill>
                  <a:srgbClr val="404040"/>
                </a:solidFill>
                <a:latin typeface="Calibri"/>
              </a:rPr>
              <a:t>Trabajo operativo que aún hace el analista</a:t>
            </a:r>
          </a:p>
          <a:p>
            <a:pPr algn="ctr"/>
            <a:r>
              <a:rPr sz="750" i="1">
                <a:solidFill>
                  <a:srgbClr val="707070"/>
                </a:solidFill>
                <a:latin typeface="Calibri"/>
              </a:rPr>
              <a:t>debería bajar de 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2800" y="5975998"/>
            <a:ext cx="1994400" cy="774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28800"/>
          <a:lstStyle/>
          <a:p>
            <a:pPr algn="ctr"/>
            <a:r>
              <a:rPr sz="1900" b="1">
                <a:solidFill>
                  <a:srgbClr val="E2000C"/>
                </a:solidFill>
                <a:latin typeface="Calibri"/>
              </a:rPr>
              <a:t>100%</a:t>
            </a:r>
          </a:p>
          <a:p>
            <a:pPr algn="ctr"/>
            <a:r>
              <a:rPr sz="850">
                <a:solidFill>
                  <a:srgbClr val="404040"/>
                </a:solidFill>
                <a:latin typeface="Calibri"/>
              </a:rPr>
              <a:t>Agencias con convenio que ya usan Pago en Lote</a:t>
            </a:r>
          </a:p>
          <a:p>
            <a:pPr algn="ctr"/>
            <a:r>
              <a:rPr sz="750" i="1">
                <a:solidFill>
                  <a:srgbClr val="707070"/>
                </a:solidFill>
                <a:latin typeface="Calibri"/>
              </a:rPr>
              <a:t>de 6 agencias con convenio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5200" y="5975998"/>
            <a:ext cx="1994400" cy="774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28800"/>
          <a:lstStyle/>
          <a:p>
            <a:pPr algn="ctr"/>
            <a:r>
              <a:rPr sz="1900" b="1">
                <a:solidFill>
                  <a:srgbClr val="E2000C"/>
                </a:solidFill>
                <a:latin typeface="Calibri"/>
              </a:rPr>
              <a:t>66%</a:t>
            </a:r>
          </a:p>
          <a:p>
            <a:pPr algn="ctr"/>
            <a:r>
              <a:rPr sz="850">
                <a:solidFill>
                  <a:srgbClr val="404040"/>
                </a:solidFill>
                <a:latin typeface="Calibri"/>
              </a:rPr>
              <a:t>Agencias que ya usan CTS en Lote</a:t>
            </a:r>
          </a:p>
          <a:p>
            <a:pPr algn="ctr"/>
            <a:r>
              <a:rPr sz="750" i="1">
                <a:solidFill>
                  <a:srgbClr val="707070"/>
                </a:solidFill>
                <a:latin typeface="Calibri"/>
              </a:rPr>
              <a:t>de 38 agencias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17600" y="5975998"/>
            <a:ext cx="1994400" cy="774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28800"/>
          <a:lstStyle/>
          <a:p>
            <a:pPr algn="ctr"/>
            <a:r>
              <a:rPr sz="1900" b="1">
                <a:solidFill>
                  <a:srgbClr val="E2000C"/>
                </a:solidFill>
                <a:latin typeface="Calibri"/>
              </a:rPr>
              <a:t>8</a:t>
            </a:r>
          </a:p>
          <a:p>
            <a:pPr algn="ctr"/>
            <a:r>
              <a:rPr sz="850">
                <a:solidFill>
                  <a:srgbClr val="404040"/>
                </a:solidFill>
                <a:latin typeface="Calibri"/>
              </a:rPr>
              <a:t>Empresas distintas atendidas en CTS este 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200000" cy="612000"/>
          </a:xfrm>
          <a:prstGeom prst="roundRect">
            <a:avLst>
              <a:gd name="adj" fmla="val 50000"/>
            </a:avLst>
          </a:prstGeom>
          <a:solidFill>
            <a:srgbClr val="E2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54000" bIns="54000"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Performance KPIs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" y="66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Calibri"/>
              </a:rPr>
              <a:t>Pagos Masivos y CTS · Ago-26 · Tiempo estimado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" y="917999"/>
            <a:ext cx="10404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04040"/>
                </a:solidFill>
                <a:latin typeface="Calibri"/>
              </a:rPr>
              <a:t>Horas de trabajo que representan estas transacciones (estimado)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8000" y="1133999"/>
          <a:ext cx="10404000" cy="190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108000" y="3041999"/>
            <a:ext cx="10404000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0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" y="3041999"/>
            <a:ext cx="10404000" cy="216000"/>
          </a:xfrm>
          <a:prstGeom prst="rect">
            <a:avLst/>
          </a:prstGeom>
          <a:solidFill>
            <a:srgbClr val="E2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QUÉ SIGNIFICA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" y="3293999"/>
            <a:ext cx="10296000" cy="468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900" b="0">
                <a:solidFill>
                  <a:srgbClr val="202020"/>
                </a:solidFill>
                <a:latin typeface="Calibri"/>
              </a:rPr>
              <a:t>Es un estimado, no un cronómetro real: se calcula con un tiempo promedio por transacción (1.3 min por pago de convenio, 4.0 min por CTS). En Ago-26 equivale a 3 horas de trabajo, unos 0.4 días completos de una persona sola.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" y="3851999"/>
            <a:ext cx="1040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Calibri"/>
              </a:rPr>
              <a:t>Nota: los tiempos son un estimado con supuestos fijos (no cronometrado).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200000" cy="612000"/>
          </a:xfrm>
          <a:prstGeom prst="roundRect">
            <a:avLst>
              <a:gd name="adj" fmla="val 50000"/>
            </a:avLst>
          </a:prstGeom>
          <a:solidFill>
            <a:srgbClr val="E2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6000" tIns="54000" bIns="54000"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Gestión Operativa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" y="66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Calibri"/>
              </a:rPr>
              <a:t>Pagos Masivos y CTS · Ago-26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00" y="917999"/>
            <a:ext cx="10404000" cy="540000"/>
          </a:xfrm>
          <a:prstGeom prst="roundRect">
            <a:avLst>
              <a:gd name="adj" fmla="val 15000"/>
            </a:avLst>
          </a:prstGeom>
          <a:solidFill>
            <a:srgbClr val="E2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wrap="square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🏆  LOGRO DEL MES (EJEMPLO):  Salida a producción de una nueva mejora del 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" y="1565999"/>
            <a:ext cx="50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04040"/>
                </a:solidFill>
                <a:latin typeface="Calibri"/>
              </a:rPr>
              <a:t>Mejoras solicitadas este mes (datos de ejemplo)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8000" y="1799999"/>
          <a:ext cx="102599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999"/>
                <a:gridCol w="576000"/>
                <a:gridCol w="2160000"/>
                <a:gridCol w="5580000"/>
                <a:gridCol w="1116000"/>
              </a:tblGrid>
              <a:tr h="216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N° Ref.</a:t>
                      </a:r>
                    </a:p>
                  </a:txBody>
                  <a:tcPr anchor="ctr">
                    <a:solidFill>
                      <a:srgbClr val="E20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anchor="ctr">
                    <a:solidFill>
                      <a:srgbClr val="E20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Qué se pidió</a:t>
                      </a:r>
                    </a:p>
                  </a:txBody>
                  <a:tcPr anchor="ctr">
                    <a:solidFill>
                      <a:srgbClr val="E20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En qué consiste</a:t>
                      </a:r>
                    </a:p>
                  </a:txBody>
                  <a:tcPr anchor="ctr">
                    <a:solidFill>
                      <a:srgbClr val="E200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anchor="ctr">
                    <a:solidFill>
                      <a:srgbClr val="E2000C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REQ-001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01-mes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Mejorar un reporte operativo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Ejemplo: agregar campos para poder reportar por ubicación.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En coordinación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REQ-002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02-mes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Agilizar un proceso interno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Ejemplo: quitar pasos redundantes y agregar validaciones.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2 semanas est.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REQ-003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02-mes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Automatizar una tarea manual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Ejemplo: que el sistema organice archivos automáticamente.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4 semanas est.</a:t>
                      </a:r>
                    </a:p>
                  </a:txBody>
                  <a:tcPr anchor="ctr" marL="54000" marR="54000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020"/>
                          </a:solidFill>
                          <a:latin typeface="Calibri"/>
                        </a:rPr>
                        <a:t>REQ-004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09-mes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Reforzar un control de riesgo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Ejemplo: que las alertas lleguen también al equipo responsable.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2020"/>
                          </a:solidFill>
                          <a:latin typeface="Calibri"/>
                        </a:rPr>
                        <a:t>En coordinación</a:t>
                      </a:r>
                    </a:p>
                  </a:txBody>
                  <a:tcPr anchor="ctr" marL="54000" marR="540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000" y="3671999"/>
            <a:ext cx="50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04040"/>
                </a:solidFill>
                <a:latin typeface="Calibri"/>
              </a:rPr>
              <a:t>Buzón de Requerimientos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" y="3905999"/>
            <a:ext cx="1655999" cy="936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43200" bIns="28800"/>
          <a:lstStyle/>
          <a:p>
            <a:pPr algn="ctr"/>
            <a:r>
              <a:rPr sz="1900" b="1">
                <a:solidFill>
                  <a:srgbClr val="E2000C"/>
                </a:solidFill>
                <a:latin typeface="Calibri"/>
              </a:rPr>
              <a:t>0</a:t>
            </a:r>
          </a:p>
          <a:p>
            <a:pPr algn="ctr"/>
            <a:r>
              <a:rPr sz="850">
                <a:solidFill>
                  <a:srgbClr val="404040"/>
                </a:solidFill>
                <a:latin typeface="Calibri"/>
              </a:rPr>
              <a:t>Solicitudes recibidas (acumulado)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2000" y="3905999"/>
            <a:ext cx="34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404040"/>
                </a:solidFill>
                <a:latin typeface="Calibri"/>
              </a:rPr>
              <a:t>Por qué escriben más los 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3905999"/>
            <a:ext cx="324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404040"/>
                </a:solidFill>
                <a:latin typeface="Calibri"/>
              </a:rPr>
              <a:t>Quién atendió cada solicitud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KPIs — Pagos Masivos y CTS (demo)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